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23448557-8da6-1a29-60aa-1b94d43c2c0c}">
          <p14:sldIdLst>
            <p14:sldId id="256"/>
          </p14:sldIdLst>
        </p14:section>
        <p14:section name="Quality &amp; Delivery" id="{71e841ae-3385-5d3b-5203-32692ccffe45}">
          <p14:sldIdLst>
            <p14:sldId id="257"/>
            <p14:sldId id="258"/>
            <p14:sldId id="259"/>
            <p14:sldId id="260"/>
          </p14:sldIdLst>
        </p14:section>
        <p14:section name="Cloud Infrastructure" id="{67bb73ee-64d3-14fd-6f77-d111e8542f56}">
          <p14:sldIdLst>
            <p14:sldId id="261"/>
            <p14:sldId id="262"/>
          </p14:sldIdLst>
        </p14:section>
        <p14:section name="Operations" id="{d49d100a-09e7-6285-a6ec-842cef3d31fd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OpsDesk is a full-stack SRE platform demonstrating all 9 capstone modules with real automated pipelines and live AWS provisioning.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architecture represents production SRE best practices, enforcing automated quality gates before any artifact reaches Kubernetes.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Automated testing validates business logic and API contracts in CI before container packaging begins.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5 stages passed with green checkmarks, ensuring zero security regressions and automated container publishing.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Compose allows developers to boot the entire ecosystem locally with a single command (docker compose up -d).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Terraform codifies the entire cloud network deterministically across multiple availability zones in us-east-1.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cluster was successfully provisioned live on AWS, verified with kubectl, and captured directly from the AWS Console.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Observability closes the DevOps loop, providing site reliability engineers real-time visibility into production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OpsDesk — DevOps Final Capstone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OpsDesk — DevOps Final Capstone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Relationship Id="rId6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DEVOPS FINAL CAPSTONE PROJECT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chemeClr val="bg1"/>
                </a:solidFill>
              </a:rPr>
              <a:t>OpsDesk</a:t>
            </a:r>
            <a:endParaRPr lang="en-US" sz="5600" dirty="0"/>
          </a:p>
        </p:txBody>
      </p:sp>
      <p:sp>
        <p:nvSpPr>
          <p:cNvPr id="4" name="Subtitle"/>
          <p:cNvSpPr txBox="1"/>
          <p:nvPr/>
        </p:nvSpPr>
        <p:spPr>
          <a:xfrm>
            <a:off x="640080" y="178308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Enterprise Cloud Incident &amp; Site Reliability Engineering (SRE) Hub</a:t>
            </a:r>
            <a:endParaRPr lang="en-US" sz="2000" dirty="0"/>
          </a:p>
        </p:txBody>
      </p:sp>
      <p:sp>
        <p:nvSpPr>
          <p:cNvPr id="5" name="Objective"/>
          <p:cNvSpPr txBox="1"/>
          <p:nvPr/>
        </p:nvSpPr>
        <p:spPr>
          <a:xfrm>
            <a:off x="640080" y="2788920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Objective: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Demonstrate an end-to-end automated DevOps lifecycle, from workstation commit to an auto-scaling, monitored cloud infrastructure.</a:t>
            </a:r>
            <a:endParaRPr lang="en-US" sz="1600" dirty="0"/>
          </a:p>
        </p:txBody>
      </p:sp>
      <p:sp>
        <p:nvSpPr>
          <p:cNvPr id="6" name="Chip FastAPI · Python 3.12"/>
          <p:cNvSpPr/>
          <p:nvPr/>
        </p:nvSpPr>
        <p:spPr>
          <a:xfrm>
            <a:off x="640080" y="4069080"/>
            <a:ext cx="2235708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7" name="Chip label"/>
          <p:cNvSpPr txBox="1"/>
          <p:nvPr/>
        </p:nvSpPr>
        <p:spPr>
          <a:xfrm>
            <a:off x="640080" y="4069080"/>
            <a:ext cx="223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FastAPI · Python 3.12</a:t>
            </a:r>
            <a:endParaRPr lang="en-US" sz="1200" dirty="0"/>
          </a:p>
        </p:txBody>
      </p:sp>
      <p:sp>
        <p:nvSpPr>
          <p:cNvPr id="8" name="Chip React 18 · Glassmorphism UI"/>
          <p:cNvSpPr/>
          <p:nvPr/>
        </p:nvSpPr>
        <p:spPr>
          <a:xfrm>
            <a:off x="3003804" y="4069080"/>
            <a:ext cx="2756916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9" name="Chip label"/>
          <p:cNvSpPr txBox="1"/>
          <p:nvPr/>
        </p:nvSpPr>
        <p:spPr>
          <a:xfrm>
            <a:off x="3003804" y="4069080"/>
            <a:ext cx="2756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React 18 · Glassmorphism UI</a:t>
            </a:r>
            <a:endParaRPr lang="en-US" sz="1200" dirty="0"/>
          </a:p>
        </p:txBody>
      </p:sp>
      <p:sp>
        <p:nvSpPr>
          <p:cNvPr id="10" name="Chip PostgreSQL 16"/>
          <p:cNvSpPr/>
          <p:nvPr/>
        </p:nvSpPr>
        <p:spPr>
          <a:xfrm>
            <a:off x="640080" y="4562856"/>
            <a:ext cx="1540764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11" name="Chip label"/>
          <p:cNvSpPr txBox="1"/>
          <p:nvPr/>
        </p:nvSpPr>
        <p:spPr>
          <a:xfrm>
            <a:off x="640080" y="4562856"/>
            <a:ext cx="1540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PostgreSQL 16</a:t>
            </a:r>
            <a:endParaRPr lang="en-US" sz="1200" dirty="0"/>
          </a:p>
        </p:txBody>
      </p:sp>
      <p:sp>
        <p:nvSpPr>
          <p:cNvPr id="12" name="Chip Docker"/>
          <p:cNvSpPr/>
          <p:nvPr/>
        </p:nvSpPr>
        <p:spPr>
          <a:xfrm>
            <a:off x="2308860" y="4562856"/>
            <a:ext cx="932688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13" name="Chip label"/>
          <p:cNvSpPr txBox="1"/>
          <p:nvPr/>
        </p:nvSpPr>
        <p:spPr>
          <a:xfrm>
            <a:off x="2308860" y="4562856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Docker</a:t>
            </a:r>
            <a:endParaRPr lang="en-US" sz="1200" dirty="0"/>
          </a:p>
        </p:txBody>
      </p:sp>
      <p:sp>
        <p:nvSpPr>
          <p:cNvPr id="14" name="Chip Kubernetes / Helm"/>
          <p:cNvSpPr/>
          <p:nvPr/>
        </p:nvSpPr>
        <p:spPr>
          <a:xfrm>
            <a:off x="3369564" y="4562856"/>
            <a:ext cx="1888236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15" name="Chip label"/>
          <p:cNvSpPr txBox="1"/>
          <p:nvPr/>
        </p:nvSpPr>
        <p:spPr>
          <a:xfrm>
            <a:off x="3369564" y="4562856"/>
            <a:ext cx="1888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Kubernetes / Helm</a:t>
            </a:r>
            <a:endParaRPr lang="en-US" sz="1200" dirty="0"/>
          </a:p>
        </p:txBody>
      </p:sp>
      <p:sp>
        <p:nvSpPr>
          <p:cNvPr id="16" name="Chip AWS EKS"/>
          <p:cNvSpPr/>
          <p:nvPr/>
        </p:nvSpPr>
        <p:spPr>
          <a:xfrm>
            <a:off x="5385816" y="4562856"/>
            <a:ext cx="1019556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17" name="Chip label"/>
          <p:cNvSpPr txBox="1"/>
          <p:nvPr/>
        </p:nvSpPr>
        <p:spPr>
          <a:xfrm>
            <a:off x="5385816" y="4562856"/>
            <a:ext cx="10195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AWS EKS</a:t>
            </a:r>
            <a:endParaRPr lang="en-US" sz="1200" dirty="0"/>
          </a:p>
        </p:txBody>
      </p:sp>
      <p:sp>
        <p:nvSpPr>
          <p:cNvPr id="18" name="Chip Terraform"/>
          <p:cNvSpPr/>
          <p:nvPr/>
        </p:nvSpPr>
        <p:spPr>
          <a:xfrm>
            <a:off x="640080" y="5056632"/>
            <a:ext cx="1193292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19" name="Chip label"/>
          <p:cNvSpPr txBox="1"/>
          <p:nvPr/>
        </p:nvSpPr>
        <p:spPr>
          <a:xfrm>
            <a:off x="640080" y="5056632"/>
            <a:ext cx="11932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Terraform</a:t>
            </a:r>
            <a:endParaRPr lang="en-US" sz="1200" dirty="0"/>
          </a:p>
        </p:txBody>
      </p:sp>
      <p:sp>
        <p:nvSpPr>
          <p:cNvPr id="20" name="Chip Prometheus"/>
          <p:cNvSpPr/>
          <p:nvPr/>
        </p:nvSpPr>
        <p:spPr>
          <a:xfrm>
            <a:off x="1961388" y="5056632"/>
            <a:ext cx="128016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21" name="Chip label"/>
          <p:cNvSpPr txBox="1"/>
          <p:nvPr/>
        </p:nvSpPr>
        <p:spPr>
          <a:xfrm>
            <a:off x="1961388" y="50566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Prometheus</a:t>
            </a:r>
            <a:endParaRPr lang="en-US" sz="1200" dirty="0"/>
          </a:p>
        </p:txBody>
      </p:sp>
      <p:sp>
        <p:nvSpPr>
          <p:cNvPr id="22" name="Chip Grafana"/>
          <p:cNvSpPr/>
          <p:nvPr/>
        </p:nvSpPr>
        <p:spPr>
          <a:xfrm>
            <a:off x="3369564" y="5056632"/>
            <a:ext cx="1019556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23" name="Chip label"/>
          <p:cNvSpPr txBox="1"/>
          <p:nvPr/>
        </p:nvSpPr>
        <p:spPr>
          <a:xfrm>
            <a:off x="3369564" y="5056632"/>
            <a:ext cx="10195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Grafana</a:t>
            </a:r>
            <a:endParaRPr lang="en-US" sz="1200" dirty="0"/>
          </a:p>
        </p:txBody>
      </p:sp>
      <p:sp>
        <p:nvSpPr>
          <p:cNvPr id="24" name="Screenshot slot dashboard_glassmorphism.png"/>
          <p:cNvSpPr/>
          <p:nvPr/>
        </p:nvSpPr>
        <p:spPr>
          <a:xfrm>
            <a:off x="6949440" y="777240"/>
            <a:ext cx="4663440" cy="356616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 w="19050">
            <a:solidFill>
              <a:schemeClr val="accent2"/>
            </a:solidFill>
            <a:prstDash val="dash"/>
          </a:ln>
        </p:spPr>
        <p:txBody>
          <a:bodyPr/>
          <a:p/>
        </p:txBody>
      </p:sp>
      <p:sp>
        <p:nvSpPr>
          <p:cNvPr id="26" name="Caption"/>
          <p:cNvSpPr txBox="1"/>
          <p:nvPr/>
        </p:nvSpPr>
        <p:spPr>
          <a:xfrm>
            <a:off x="6949440" y="44165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OpsDesk dashboard — React 18 glassmorphism UI</a:t>
            </a:r>
            <a:endParaRPr lang="en-US" sz="1100" dirty="0"/>
          </a:p>
        </p:txBody>
      </p:sp>
      <p:sp>
        <p:nvSpPr>
          <p:cNvPr id="27" name="Stat card 9"/>
          <p:cNvSpPr/>
          <p:nvPr/>
        </p:nvSpPr>
        <p:spPr>
          <a:xfrm>
            <a:off x="6949440" y="5120640"/>
            <a:ext cx="146304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28" name="Stat value"/>
          <p:cNvSpPr txBox="1"/>
          <p:nvPr/>
        </p:nvSpPr>
        <p:spPr>
          <a:xfrm>
            <a:off x="6949440" y="5166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9</a:t>
            </a:r>
            <a:endParaRPr lang="en-US" sz="3200" dirty="0"/>
          </a:p>
        </p:txBody>
      </p:sp>
      <p:sp>
        <p:nvSpPr>
          <p:cNvPr id="29" name="Stat label"/>
          <p:cNvSpPr txBox="1"/>
          <p:nvPr/>
        </p:nvSpPr>
        <p:spPr>
          <a:xfrm>
            <a:off x="6949440" y="5715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capstone modules</a:t>
            </a:r>
            <a:endParaRPr lang="en-US" sz="1200" dirty="0"/>
          </a:p>
        </p:txBody>
      </p:sp>
      <p:sp>
        <p:nvSpPr>
          <p:cNvPr id="30" name="Stat card 5"/>
          <p:cNvSpPr/>
          <p:nvPr/>
        </p:nvSpPr>
        <p:spPr>
          <a:xfrm>
            <a:off x="8549640" y="5120640"/>
            <a:ext cx="146304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31" name="Stat value"/>
          <p:cNvSpPr txBox="1"/>
          <p:nvPr/>
        </p:nvSpPr>
        <p:spPr>
          <a:xfrm>
            <a:off x="8549640" y="5166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5</a:t>
            </a:r>
            <a:endParaRPr lang="en-US" sz="3200" dirty="0"/>
          </a:p>
        </p:txBody>
      </p:sp>
      <p:sp>
        <p:nvSpPr>
          <p:cNvPr id="32" name="Stat label"/>
          <p:cNvSpPr txBox="1"/>
          <p:nvPr/>
        </p:nvSpPr>
        <p:spPr>
          <a:xfrm>
            <a:off x="8549640" y="5715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pipeline stages</a:t>
            </a:r>
            <a:endParaRPr lang="en-US" sz="1200" dirty="0"/>
          </a:p>
        </p:txBody>
      </p:sp>
      <p:sp>
        <p:nvSpPr>
          <p:cNvPr id="33" name="Stat card 17"/>
          <p:cNvSpPr/>
          <p:nvPr/>
        </p:nvSpPr>
        <p:spPr>
          <a:xfrm>
            <a:off x="10149840" y="5120640"/>
            <a:ext cx="146304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34" name="Stat value"/>
          <p:cNvSpPr txBox="1"/>
          <p:nvPr/>
        </p:nvSpPr>
        <p:spPr>
          <a:xfrm>
            <a:off x="10149840" y="5166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17</a:t>
            </a:r>
            <a:endParaRPr lang="en-US" sz="3200" dirty="0"/>
          </a:p>
        </p:txBody>
      </p:sp>
      <p:sp>
        <p:nvSpPr>
          <p:cNvPr id="35" name="Stat label"/>
          <p:cNvSpPr txBox="1"/>
          <p:nvPr/>
        </p:nvSpPr>
        <p:spPr>
          <a:xfrm>
            <a:off x="10149840" y="5715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AWS resources</a:t>
            </a:r>
            <a:endParaRPr lang="en-US" sz="1200" dirty="0"/>
          </a:p>
        </p:txBody>
      </p:sp>
      <p:pic>
        <p:nvPicPr>
          <p:cNvPr id="36" name="Picture 35" descr="dashboard_glassmorphi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777240"/>
            <a:ext cx="466344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ARCHITECTURE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End-to-End System Architecture</a:t>
            </a:r>
            <a:endParaRPr lang="en-US" sz="3000" dirty="0"/>
          </a:p>
        </p:txBody>
      </p:sp>
      <p:sp>
        <p:nvSpPr>
          <p:cNvPr id="4" name="Flow step 1"/>
          <p:cNvSpPr/>
          <p:nvPr/>
        </p:nvSpPr>
        <p:spPr>
          <a:xfrm>
            <a:off x="548640" y="1463040"/>
            <a:ext cx="132588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5" name="Step badge 1"/>
          <p:cNvSpPr/>
          <p:nvPr/>
        </p:nvSpPr>
        <p:spPr>
          <a:xfrm>
            <a:off x="1037844" y="155448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6" name="Step number"/>
          <p:cNvSpPr txBox="1"/>
          <p:nvPr/>
        </p:nvSpPr>
        <p:spPr>
          <a:xfrm>
            <a:off x="1037844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Step label"/>
          <p:cNvSpPr txBox="1"/>
          <p:nvPr/>
        </p:nvSpPr>
        <p:spPr>
          <a:xfrm>
            <a:off x="603504" y="1956816"/>
            <a:ext cx="1216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Git Push</a:t>
            </a:r>
            <a:endParaRPr lang="en-US" sz="1200" dirty="0"/>
          </a:p>
        </p:txBody>
      </p:sp>
      <p:sp>
        <p:nvSpPr>
          <p:cNvPr id="8" name="Flow arrow 1"/>
          <p:cNvSpPr/>
          <p:nvPr/>
        </p:nvSpPr>
        <p:spPr>
          <a:xfrm rot="5400000">
            <a:off x="1947672" y="1956816"/>
            <a:ext cx="146304" cy="182880"/>
          </a:xfrm>
          <a:prstGeom prst="triangl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9" name="Flow step 2"/>
          <p:cNvSpPr/>
          <p:nvPr/>
        </p:nvSpPr>
        <p:spPr>
          <a:xfrm>
            <a:off x="2148840" y="1463040"/>
            <a:ext cx="132588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10" name="Step badge 2"/>
          <p:cNvSpPr/>
          <p:nvPr/>
        </p:nvSpPr>
        <p:spPr>
          <a:xfrm>
            <a:off x="2638044" y="155448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11" name="Step number"/>
          <p:cNvSpPr txBox="1"/>
          <p:nvPr/>
        </p:nvSpPr>
        <p:spPr>
          <a:xfrm>
            <a:off x="2638044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Step label"/>
          <p:cNvSpPr txBox="1"/>
          <p:nvPr/>
        </p:nvSpPr>
        <p:spPr>
          <a:xfrm>
            <a:off x="2203704" y="1956816"/>
            <a:ext cx="1216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GitHub Actions CI/CD</a:t>
            </a:r>
            <a:endParaRPr lang="en-US" sz="1200" dirty="0"/>
          </a:p>
        </p:txBody>
      </p:sp>
      <p:sp>
        <p:nvSpPr>
          <p:cNvPr id="13" name="Flow arrow 2"/>
          <p:cNvSpPr/>
          <p:nvPr/>
        </p:nvSpPr>
        <p:spPr>
          <a:xfrm rot="5400000">
            <a:off x="3547872" y="1956816"/>
            <a:ext cx="146304" cy="182880"/>
          </a:xfrm>
          <a:prstGeom prst="triangl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14" name="Flow step 3"/>
          <p:cNvSpPr/>
          <p:nvPr/>
        </p:nvSpPr>
        <p:spPr>
          <a:xfrm>
            <a:off x="3749040" y="1463040"/>
            <a:ext cx="132588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15" name="Step badge 3"/>
          <p:cNvSpPr/>
          <p:nvPr/>
        </p:nvSpPr>
        <p:spPr>
          <a:xfrm>
            <a:off x="4238244" y="155448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16" name="Step number"/>
          <p:cNvSpPr txBox="1"/>
          <p:nvPr/>
        </p:nvSpPr>
        <p:spPr>
          <a:xfrm>
            <a:off x="4238244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Step label"/>
          <p:cNvSpPr txBox="1"/>
          <p:nvPr/>
        </p:nvSpPr>
        <p:spPr>
          <a:xfrm>
            <a:off x="3803904" y="1956816"/>
            <a:ext cx="1216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Pytest &amp; Vite Build</a:t>
            </a:r>
            <a:endParaRPr lang="en-US" sz="1200" dirty="0"/>
          </a:p>
        </p:txBody>
      </p:sp>
      <p:sp>
        <p:nvSpPr>
          <p:cNvPr id="18" name="Flow arrow 3"/>
          <p:cNvSpPr/>
          <p:nvPr/>
        </p:nvSpPr>
        <p:spPr>
          <a:xfrm rot="5400000">
            <a:off x="5148072" y="1956816"/>
            <a:ext cx="146304" cy="182880"/>
          </a:xfrm>
          <a:prstGeom prst="triangl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19" name="Flow step 4"/>
          <p:cNvSpPr/>
          <p:nvPr/>
        </p:nvSpPr>
        <p:spPr>
          <a:xfrm>
            <a:off x="5349240" y="1463040"/>
            <a:ext cx="132588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20" name="Step badge 4"/>
          <p:cNvSpPr/>
          <p:nvPr/>
        </p:nvSpPr>
        <p:spPr>
          <a:xfrm>
            <a:off x="5838444" y="155448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21" name="Step number"/>
          <p:cNvSpPr txBox="1"/>
          <p:nvPr/>
        </p:nvSpPr>
        <p:spPr>
          <a:xfrm>
            <a:off x="5838444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Step label"/>
          <p:cNvSpPr txBox="1"/>
          <p:nvPr/>
        </p:nvSpPr>
        <p:spPr>
          <a:xfrm>
            <a:off x="5404104" y="1956816"/>
            <a:ext cx="1216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Terraform AWS IaC</a:t>
            </a:r>
            <a:endParaRPr lang="en-US" sz="1200" dirty="0"/>
          </a:p>
        </p:txBody>
      </p:sp>
      <p:sp>
        <p:nvSpPr>
          <p:cNvPr id="23" name="Flow arrow 4"/>
          <p:cNvSpPr/>
          <p:nvPr/>
        </p:nvSpPr>
        <p:spPr>
          <a:xfrm rot="5400000">
            <a:off x="6748272" y="1956816"/>
            <a:ext cx="146304" cy="182880"/>
          </a:xfrm>
          <a:prstGeom prst="triangl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24" name="Flow step 5"/>
          <p:cNvSpPr/>
          <p:nvPr/>
        </p:nvSpPr>
        <p:spPr>
          <a:xfrm>
            <a:off x="6949440" y="1463040"/>
            <a:ext cx="132588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25" name="Step badge 5"/>
          <p:cNvSpPr/>
          <p:nvPr/>
        </p:nvSpPr>
        <p:spPr>
          <a:xfrm>
            <a:off x="7438644" y="155448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26" name="Step number"/>
          <p:cNvSpPr txBox="1"/>
          <p:nvPr/>
        </p:nvSpPr>
        <p:spPr>
          <a:xfrm>
            <a:off x="7438644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Step label"/>
          <p:cNvSpPr txBox="1"/>
          <p:nvPr/>
        </p:nvSpPr>
        <p:spPr>
          <a:xfrm>
            <a:off x="7004304" y="1956816"/>
            <a:ext cx="1216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Trivy Vulnerability Scan</a:t>
            </a:r>
            <a:endParaRPr lang="en-US" sz="1200" dirty="0"/>
          </a:p>
        </p:txBody>
      </p:sp>
      <p:sp>
        <p:nvSpPr>
          <p:cNvPr id="28" name="Flow arrow 5"/>
          <p:cNvSpPr/>
          <p:nvPr/>
        </p:nvSpPr>
        <p:spPr>
          <a:xfrm rot="5400000">
            <a:off x="8348472" y="1956816"/>
            <a:ext cx="146304" cy="182880"/>
          </a:xfrm>
          <a:prstGeom prst="triangl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29" name="Flow step 6"/>
          <p:cNvSpPr/>
          <p:nvPr/>
        </p:nvSpPr>
        <p:spPr>
          <a:xfrm>
            <a:off x="8549640" y="1463040"/>
            <a:ext cx="132588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30" name="Step badge 6"/>
          <p:cNvSpPr/>
          <p:nvPr/>
        </p:nvSpPr>
        <p:spPr>
          <a:xfrm>
            <a:off x="9038844" y="155448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31" name="Step number"/>
          <p:cNvSpPr txBox="1"/>
          <p:nvPr/>
        </p:nvSpPr>
        <p:spPr>
          <a:xfrm>
            <a:off x="9038844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2" name="Step label"/>
          <p:cNvSpPr txBox="1"/>
          <p:nvPr/>
        </p:nvSpPr>
        <p:spPr>
          <a:xfrm>
            <a:off x="8604504" y="1956816"/>
            <a:ext cx="1216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Docker &amp; GHCR</a:t>
            </a:r>
            <a:endParaRPr lang="en-US" sz="1200" dirty="0"/>
          </a:p>
        </p:txBody>
      </p:sp>
      <p:sp>
        <p:nvSpPr>
          <p:cNvPr id="33" name="Flow arrow 6"/>
          <p:cNvSpPr/>
          <p:nvPr/>
        </p:nvSpPr>
        <p:spPr>
          <a:xfrm rot="5400000">
            <a:off x="9948672" y="1956816"/>
            <a:ext cx="146304" cy="182880"/>
          </a:xfrm>
          <a:prstGeom prst="triangl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34" name="Flow step 7"/>
          <p:cNvSpPr/>
          <p:nvPr/>
        </p:nvSpPr>
        <p:spPr>
          <a:xfrm>
            <a:off x="10149840" y="1463040"/>
            <a:ext cx="132588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35" name="Step badge 7"/>
          <p:cNvSpPr/>
          <p:nvPr/>
        </p:nvSpPr>
        <p:spPr>
          <a:xfrm>
            <a:off x="10639044" y="155448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36" name="Step number"/>
          <p:cNvSpPr txBox="1"/>
          <p:nvPr/>
        </p:nvSpPr>
        <p:spPr>
          <a:xfrm>
            <a:off x="10639044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37" name="Step label"/>
          <p:cNvSpPr txBox="1"/>
          <p:nvPr/>
        </p:nvSpPr>
        <p:spPr>
          <a:xfrm>
            <a:off x="10204704" y="1956816"/>
            <a:ext cx="1216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Kubernetes &amp; Helm Deploy</a:t>
            </a:r>
            <a:endParaRPr lang="en-US" sz="1200" dirty="0"/>
          </a:p>
        </p:txBody>
      </p:sp>
      <p:sp>
        <p:nvSpPr>
          <p:cNvPr id="38" name="Bullets"/>
          <p:cNvSpPr txBox="1"/>
          <p:nvPr/>
        </p:nvSpPr>
        <p:spPr>
          <a:xfrm>
            <a:off x="548640" y="297180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Layering: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Clean separation of UI, stateless REST API, persistent relational storage, and auto-scaling container workloads.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Infrastructure: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Multi-AZ AWS VPC (10.0.0.0/16) powering a managed Kubernetes v1.30 cluster.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Quality gates: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Tests and security scans must pass before any artifact reaches Kubernetes.</a:t>
            </a:r>
            <a:endParaRPr lang="en-US" sz="1500" dirty="0"/>
          </a:p>
        </p:txBody>
      </p:sp>
      <p:sp>
        <p:nvSpPr>
          <p:cNvPr id="39" name="Screenshot slot github_actions_full_pipeline.png"/>
          <p:cNvSpPr/>
          <p:nvPr/>
        </p:nvSpPr>
        <p:spPr>
          <a:xfrm>
            <a:off x="6217920" y="2880360"/>
            <a:ext cx="5394960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  <p:txBody>
          <a:bodyPr/>
          <a:p/>
        </p:txBody>
      </p:sp>
      <p:sp>
        <p:nvSpPr>
          <p:cNvPr id="41" name="Caption"/>
          <p:cNvSpPr txBox="1"/>
          <p:nvPr/>
        </p:nvSpPr>
        <p:spPr>
          <a:xfrm>
            <a:off x="6217920" y="610819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GitHub Actions — full CI/CD pipeline run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pic>
        <p:nvPicPr>
          <p:cNvPr id="42" name="Picture 41" descr="github_actions_full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880360"/>
            <a:ext cx="539496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QUALITY GATE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Automated Testing &amp; Code Quality</a:t>
            </a:r>
            <a:endParaRPr lang="en-US" sz="3000" dirty="0"/>
          </a:p>
        </p:txBody>
      </p:sp>
      <p:sp>
        <p:nvSpPr>
          <p:cNvPr id="4" name="Screenshot slot m2_pytest_terminal.png"/>
          <p:cNvSpPr/>
          <p:nvPr/>
        </p:nvSpPr>
        <p:spPr>
          <a:xfrm>
            <a:off x="548640" y="1463040"/>
            <a:ext cx="5577840" cy="4343400"/>
          </a:xfrm>
          <a:prstGeom prst="roundRect">
            <a:avLst>
              <a:gd name="adj" fmla="val 2526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  <p:txBody>
          <a:bodyPr/>
          <a:p/>
        </p:txBody>
      </p:sp>
      <p:sp>
        <p:nvSpPr>
          <p:cNvPr id="6" name="Caption"/>
          <p:cNvSpPr txBox="1"/>
          <p:nvPr/>
        </p:nvSpPr>
        <p:spPr>
          <a:xfrm>
            <a:off x="548640" y="587959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Pytest terminal — 9 passed</a:t>
            </a:r>
            <a:endParaRPr lang="en-US" sz="1100" dirty="0"/>
          </a:p>
        </p:txBody>
      </p:sp>
      <p:sp>
        <p:nvSpPr>
          <p:cNvPr id="7" name="Stat card 9/9"/>
          <p:cNvSpPr/>
          <p:nvPr/>
        </p:nvSpPr>
        <p:spPr>
          <a:xfrm>
            <a:off x="6583680" y="1463040"/>
            <a:ext cx="24231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8" name="Stat value"/>
          <p:cNvSpPr txBox="1"/>
          <p:nvPr/>
        </p:nvSpPr>
        <p:spPr>
          <a:xfrm>
            <a:off x="6583680" y="1572768"/>
            <a:ext cx="24231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9/9</a:t>
            </a:r>
            <a:endParaRPr lang="en-US" sz="3600" dirty="0"/>
          </a:p>
        </p:txBody>
      </p:sp>
      <p:sp>
        <p:nvSpPr>
          <p:cNvPr id="9" name="Stat label"/>
          <p:cNvSpPr txBox="1"/>
          <p:nvPr/>
        </p:nvSpPr>
        <p:spPr>
          <a:xfrm>
            <a:off x="6675120" y="2313432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tests passing</a:t>
            </a:r>
            <a:endParaRPr lang="en-US" sz="1200" dirty="0"/>
          </a:p>
        </p:txBody>
      </p:sp>
      <p:sp>
        <p:nvSpPr>
          <p:cNvPr id="10" name="Stat card &lt;0.15s"/>
          <p:cNvSpPr/>
          <p:nvPr/>
        </p:nvSpPr>
        <p:spPr>
          <a:xfrm>
            <a:off x="9189720" y="1463040"/>
            <a:ext cx="24231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1" name="Stat value"/>
          <p:cNvSpPr txBox="1"/>
          <p:nvPr/>
        </p:nvSpPr>
        <p:spPr>
          <a:xfrm>
            <a:off x="9189720" y="1572768"/>
            <a:ext cx="24231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&lt;0.15s</a:t>
            </a:r>
            <a:endParaRPr lang="en-US" sz="3600" dirty="0"/>
          </a:p>
        </p:txBody>
      </p:sp>
      <p:sp>
        <p:nvSpPr>
          <p:cNvPr id="12" name="Stat label"/>
          <p:cNvSpPr txBox="1"/>
          <p:nvPr/>
        </p:nvSpPr>
        <p:spPr>
          <a:xfrm>
            <a:off x="9281160" y="2313432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full suite runtime</a:t>
            </a:r>
            <a:endParaRPr lang="en-US" sz="1200" dirty="0"/>
          </a:p>
        </p:txBody>
      </p:sp>
      <p:sp>
        <p:nvSpPr>
          <p:cNvPr id="13" name="Bullets"/>
          <p:cNvSpPr txBox="1"/>
          <p:nvPr/>
        </p:nvSpPr>
        <p:spPr>
          <a:xfrm>
            <a:off x="6583680" y="315468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Framework: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Pytest 8.3 with isolated, in-memory SQLite fixtures for hermetic runs.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Coverage: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CRUD, health/readiness probes, metrics scrape, and SLA analytics.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Feedback loop: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Sub-second execution gives developers near-instant results.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  <p:pic>
        <p:nvPicPr>
          <p:cNvPr id="26" name="Picture 25" descr="m2_pytest_term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557784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QUALITY GATES 2 &amp;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CI/CD Pipeline &amp; DevSecOps</a:t>
            </a:r>
            <a:endParaRPr lang="en-US" sz="3000" dirty="0"/>
          </a:p>
        </p:txBody>
      </p:sp>
      <p:sp>
        <p:nvSpPr>
          <p:cNvPr id="4" name="Card Automation Engine"/>
          <p:cNvSpPr/>
          <p:nvPr/>
        </p:nvSpPr>
        <p:spPr>
          <a:xfrm>
            <a:off x="548640" y="1463040"/>
            <a:ext cx="539496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5" name="Icon circle"/>
          <p:cNvSpPr/>
          <p:nvPr/>
        </p:nvSpPr>
        <p:spPr>
          <a:xfrm>
            <a:off x="777240" y="18288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6" name="Icon Automation Engine" descr="Automation Eng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975104"/>
            <a:ext cx="301752" cy="301752"/>
          </a:xfrm>
          <a:prstGeom prst="rect">
            <a:avLst/>
          </a:prstGeom>
        </p:spPr>
      </p:pic>
      <p:sp>
        <p:nvSpPr>
          <p:cNvPr id="7" name="Card text"/>
          <p:cNvSpPr txBox="1"/>
          <p:nvPr/>
        </p:nvSpPr>
        <p:spPr>
          <a:xfrm>
            <a:off x="1600200" y="1554480"/>
            <a:ext cx="4160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Automation Engine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GitHub Actions workflow runs on every push to main and on pull requests.</a:t>
            </a:r>
            <a:endParaRPr lang="en-US" sz="1600" dirty="0"/>
          </a:p>
        </p:txBody>
      </p:sp>
      <p:sp>
        <p:nvSpPr>
          <p:cNvPr id="8" name="Card DevSecOps Gate"/>
          <p:cNvSpPr/>
          <p:nvPr/>
        </p:nvSpPr>
        <p:spPr>
          <a:xfrm>
            <a:off x="548640" y="3017520"/>
            <a:ext cx="539496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9" name="Icon circle"/>
          <p:cNvSpPr/>
          <p:nvPr/>
        </p:nvSpPr>
        <p:spPr>
          <a:xfrm>
            <a:off x="777240" y="33832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10" name="Icon DevSecOps Gate" descr="DevSecOps Ga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3529584"/>
            <a:ext cx="301752" cy="301752"/>
          </a:xfrm>
          <a:prstGeom prst="rect">
            <a:avLst/>
          </a:prstGeom>
        </p:spPr>
      </p:pic>
      <p:sp>
        <p:nvSpPr>
          <p:cNvPr id="11" name="Card text"/>
          <p:cNvSpPr txBox="1"/>
          <p:nvPr/>
        </p:nvSpPr>
        <p:spPr>
          <a:xfrm>
            <a:off x="1600200" y="3108960"/>
            <a:ext cx="4160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DevSecOps Gate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Aqua Security Trivy scans backend and frontend images for CRITICAL/HIGH CVEs.</a:t>
            </a:r>
            <a:endParaRPr lang="en-US" sz="1600" dirty="0"/>
          </a:p>
        </p:txBody>
      </p:sp>
      <p:sp>
        <p:nvSpPr>
          <p:cNvPr id="12" name="Card Immutable Artifacts"/>
          <p:cNvSpPr/>
          <p:nvPr/>
        </p:nvSpPr>
        <p:spPr>
          <a:xfrm>
            <a:off x="548640" y="4572000"/>
            <a:ext cx="539496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13" name="Icon circle"/>
          <p:cNvSpPr/>
          <p:nvPr/>
        </p:nvSpPr>
        <p:spPr>
          <a:xfrm>
            <a:off x="777240" y="49377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14" name="Icon Immutable Artifacts" descr="Immutable Artifac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5084064"/>
            <a:ext cx="301752" cy="301752"/>
          </a:xfrm>
          <a:prstGeom prst="rect">
            <a:avLst/>
          </a:prstGeom>
        </p:spPr>
      </p:pic>
      <p:sp>
        <p:nvSpPr>
          <p:cNvPr id="15" name="Card text"/>
          <p:cNvSpPr txBox="1"/>
          <p:nvPr/>
        </p:nvSpPr>
        <p:spPr>
          <a:xfrm>
            <a:off x="1600200" y="4663440"/>
            <a:ext cx="4160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Immutable Artifacts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Docker Buildx builds non-root images, tagged with Git commit SHAs and pushed to GHCR.</a:t>
            </a:r>
            <a:endParaRPr lang="en-US" sz="1600" dirty="0"/>
          </a:p>
        </p:txBody>
      </p:sp>
      <p:sp>
        <p:nvSpPr>
          <p:cNvPr id="16" name="Screenshot slot github_actions_full_pipeline.png"/>
          <p:cNvSpPr/>
          <p:nvPr/>
        </p:nvSpPr>
        <p:spPr>
          <a:xfrm>
            <a:off x="6309360" y="1463040"/>
            <a:ext cx="530352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  <p:txBody>
          <a:bodyPr/>
          <a:p/>
        </p:txBody>
      </p:sp>
      <p:sp>
        <p:nvSpPr>
          <p:cNvPr id="18" name="Caption"/>
          <p:cNvSpPr txBox="1"/>
          <p:nvPr/>
        </p:nvSpPr>
        <p:spPr>
          <a:xfrm>
            <a:off x="6309360" y="583387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All 5 pipeline stages passed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pic>
        <p:nvPicPr>
          <p:cNvPr id="26" name="Picture 25" descr="github_actions_full_pipe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1463040"/>
            <a:ext cx="530352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CONTAINERIZATION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Containerization &amp; Local Development</a:t>
            </a:r>
            <a:endParaRPr lang="en-US" sz="3000" dirty="0"/>
          </a:p>
        </p:txBody>
      </p:sp>
      <p:sp>
        <p:nvSpPr>
          <p:cNvPr id="4" name="Screenshot slot m4_docker_compose.png"/>
          <p:cNvSpPr/>
          <p:nvPr/>
        </p:nvSpPr>
        <p:spPr>
          <a:xfrm>
            <a:off x="548640" y="1463040"/>
            <a:ext cx="5577840" cy="425196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  <p:txBody>
          <a:bodyPr/>
          <a:p/>
        </p:txBody>
      </p:sp>
      <p:sp>
        <p:nvSpPr>
          <p:cNvPr id="6" name="Caption"/>
          <p:cNvSpPr txBox="1"/>
          <p:nvPr/>
        </p:nvSpPr>
        <p:spPr>
          <a:xfrm>
            <a:off x="548640" y="578815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Docker Compose — 5 services running</a:t>
            </a:r>
            <a:endParaRPr lang="en-US" sz="1100" dirty="0"/>
          </a:p>
        </p:txBody>
      </p:sp>
      <p:sp>
        <p:nvSpPr>
          <p:cNvPr id="7" name="Bullets"/>
          <p:cNvSpPr txBox="1"/>
          <p:nvPr/>
        </p:nvSpPr>
        <p:spPr>
          <a:xfrm>
            <a:off x="6583680" y="146304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Multi-service stack: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5 containers — PostgreSQL 16, FastAPI backend, React frontend, Prometheus v3, Grafana 12.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Production hardening: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Non-root unprivileged user (appuser, UID 10001) for a minimal attack surface.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Environment parity: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Standardized env variables keep Docker Compose and Kubernetes consistent.</a:t>
            </a:r>
            <a:endParaRPr lang="en-US" sz="1600" dirty="0"/>
          </a:p>
        </p:txBody>
      </p:sp>
      <p:sp>
        <p:nvSpPr>
          <p:cNvPr id="8" name="Command chip"/>
          <p:cNvSpPr/>
          <p:nvPr/>
        </p:nvSpPr>
        <p:spPr>
          <a:xfrm>
            <a:off x="6583680" y="5074920"/>
            <a:ext cx="5029200" cy="640080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/>
        </p:spPr>
      </p:sp>
      <p:sp>
        <p:nvSpPr>
          <p:cNvPr id="9" name="Command text"/>
          <p:cNvSpPr txBox="1"/>
          <p:nvPr/>
        </p:nvSpPr>
        <p:spPr>
          <a:xfrm>
            <a:off x="6583680" y="50749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pic>
        <p:nvPicPr>
          <p:cNvPr id="26" name="Picture 25" descr="m4_docker_compo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557784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INFRASTRUCTURE AS CODE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Infrastructure as Code with Terraform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IaC engine: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Modular Terraform using the HashiCorp AWS Provider ~&gt; 5.0.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Network topology: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Custom VPC, 2 public subnets with an Internet Gateway for ingress, 2 private subnets for worker nodes, and route tables.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Verification: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 dry-run terraform plan validated 17 cloud resources before live execution.</a:t>
            </a:r>
            <a:endParaRPr lang="en-US" sz="1600" dirty="0"/>
          </a:p>
        </p:txBody>
      </p:sp>
      <p:sp>
        <p:nvSpPr>
          <p:cNvPr id="5" name="Stat card 17"/>
          <p:cNvSpPr/>
          <p:nvPr/>
        </p:nvSpPr>
        <p:spPr>
          <a:xfrm>
            <a:off x="548640" y="4572000"/>
            <a:ext cx="146304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6" name="Stat value"/>
          <p:cNvSpPr txBox="1"/>
          <p:nvPr/>
        </p:nvSpPr>
        <p:spPr>
          <a:xfrm>
            <a:off x="548640" y="4681728"/>
            <a:ext cx="14630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17</a:t>
            </a:r>
            <a:endParaRPr lang="en-US" sz="3400" dirty="0"/>
          </a:p>
        </p:txBody>
      </p:sp>
      <p:sp>
        <p:nvSpPr>
          <p:cNvPr id="7" name="Stat label"/>
          <p:cNvSpPr txBox="1"/>
          <p:nvPr/>
        </p:nvSpPr>
        <p:spPr>
          <a:xfrm>
            <a:off x="640080" y="542239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resources planned</a:t>
            </a:r>
            <a:endParaRPr lang="en-US" sz="1200" dirty="0"/>
          </a:p>
        </p:txBody>
      </p:sp>
      <p:sp>
        <p:nvSpPr>
          <p:cNvPr id="8" name="Stat card 10.0.0.0/16"/>
          <p:cNvSpPr/>
          <p:nvPr/>
        </p:nvSpPr>
        <p:spPr>
          <a:xfrm>
            <a:off x="2103120" y="4572000"/>
            <a:ext cx="21945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9" name="Stat value"/>
          <p:cNvSpPr txBox="1"/>
          <p:nvPr/>
        </p:nvSpPr>
        <p:spPr>
          <a:xfrm>
            <a:off x="2103120" y="4681728"/>
            <a:ext cx="21945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10.0.0.0/16</a:t>
            </a:r>
            <a:endParaRPr lang="en-US" sz="2600" dirty="0"/>
          </a:p>
        </p:txBody>
      </p:sp>
      <p:sp>
        <p:nvSpPr>
          <p:cNvPr id="10" name="Stat label"/>
          <p:cNvSpPr txBox="1"/>
          <p:nvPr/>
        </p:nvSpPr>
        <p:spPr>
          <a:xfrm>
            <a:off x="2194560" y="542239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VPC CIDR</a:t>
            </a:r>
            <a:endParaRPr lang="en-US" sz="1200" dirty="0"/>
          </a:p>
        </p:txBody>
      </p:sp>
      <p:sp>
        <p:nvSpPr>
          <p:cNvPr id="11" name="Stat card 2 + 2"/>
          <p:cNvSpPr/>
          <p:nvPr/>
        </p:nvSpPr>
        <p:spPr>
          <a:xfrm>
            <a:off x="4389120" y="4572000"/>
            <a:ext cx="15544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12" name="Stat value"/>
          <p:cNvSpPr txBox="1"/>
          <p:nvPr/>
        </p:nvSpPr>
        <p:spPr>
          <a:xfrm>
            <a:off x="4389120" y="4681728"/>
            <a:ext cx="15544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2 + 2</a:t>
            </a:r>
            <a:endParaRPr lang="en-US" sz="3400" dirty="0"/>
          </a:p>
        </p:txBody>
      </p:sp>
      <p:sp>
        <p:nvSpPr>
          <p:cNvPr id="13" name="Stat label"/>
          <p:cNvSpPr txBox="1"/>
          <p:nvPr/>
        </p:nvSpPr>
        <p:spPr>
          <a:xfrm>
            <a:off x="4480560" y="542239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public / private subnets</a:t>
            </a:r>
            <a:endParaRPr lang="en-US" sz="1200" dirty="0"/>
          </a:p>
        </p:txBody>
      </p:sp>
      <p:sp>
        <p:nvSpPr>
          <p:cNvPr id="14" name="Screenshot slot aws_vpc_production.png"/>
          <p:cNvSpPr/>
          <p:nvPr/>
        </p:nvSpPr>
        <p:spPr>
          <a:xfrm>
            <a:off x="6309360" y="1463040"/>
            <a:ext cx="530352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  <p:txBody>
          <a:bodyPr/>
          <a:p/>
        </p:txBody>
      </p:sp>
      <p:sp>
        <p:nvSpPr>
          <p:cNvPr id="16" name="Caption"/>
          <p:cNvSpPr txBox="1"/>
          <p:nvPr/>
        </p:nvSpPr>
        <p:spPr>
          <a:xfrm>
            <a:off x="6309360" y="60167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AWS Console — production VPC, us-east-1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26" name="Picture 25" descr="aws_vpc_produ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63040"/>
            <a:ext cx="530352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CLOUD ORCHESTRATION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Live AWS EKS Kubernetes Cluster</a:t>
            </a:r>
            <a:endParaRPr lang="en-US" sz="3000" dirty="0"/>
          </a:p>
        </p:txBody>
      </p:sp>
      <p:sp>
        <p:nvSpPr>
          <p:cNvPr id="4" name="Stat card v1.30"/>
          <p:cNvSpPr/>
          <p:nvPr/>
        </p:nvSpPr>
        <p:spPr>
          <a:xfrm>
            <a:off x="548640" y="1463040"/>
            <a:ext cx="265176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5" name="Stat value"/>
          <p:cNvSpPr txBox="1"/>
          <p:nvPr/>
        </p:nvSpPr>
        <p:spPr>
          <a:xfrm>
            <a:off x="548640" y="1572768"/>
            <a:ext cx="26517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v1.30</a:t>
            </a:r>
            <a:endParaRPr lang="en-US" sz="3200" dirty="0"/>
          </a:p>
        </p:txBody>
      </p:sp>
      <p:sp>
        <p:nvSpPr>
          <p:cNvPr id="6" name="Stat label"/>
          <p:cNvSpPr txBox="1"/>
          <p:nvPr/>
        </p:nvSpPr>
        <p:spPr>
          <a:xfrm>
            <a:off x="640080" y="2200046"/>
            <a:ext cx="2468880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EKS Kubernetes version</a:t>
            </a:r>
            <a:endParaRPr lang="en-US" sz="1200" dirty="0"/>
          </a:p>
        </p:txBody>
      </p:sp>
      <p:sp>
        <p:nvSpPr>
          <p:cNvPr id="7" name="Stat card AL2023"/>
          <p:cNvSpPr/>
          <p:nvPr/>
        </p:nvSpPr>
        <p:spPr>
          <a:xfrm>
            <a:off x="3355848" y="1463040"/>
            <a:ext cx="265176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8" name="Stat value"/>
          <p:cNvSpPr txBox="1"/>
          <p:nvPr/>
        </p:nvSpPr>
        <p:spPr>
          <a:xfrm>
            <a:off x="3355848" y="1572768"/>
            <a:ext cx="26517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AL2023</a:t>
            </a:r>
            <a:endParaRPr lang="en-US" sz="3200" dirty="0"/>
          </a:p>
        </p:txBody>
      </p:sp>
      <p:sp>
        <p:nvSpPr>
          <p:cNvPr id="9" name="Stat label"/>
          <p:cNvSpPr txBox="1"/>
          <p:nvPr/>
        </p:nvSpPr>
        <p:spPr>
          <a:xfrm>
            <a:off x="3447288" y="2200046"/>
            <a:ext cx="2468880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Amazon Linux 2023 nodes</a:t>
            </a:r>
            <a:endParaRPr lang="en-US" sz="1200" dirty="0"/>
          </a:p>
        </p:txBody>
      </p:sp>
      <p:sp>
        <p:nvSpPr>
          <p:cNvPr id="10" name="Stat card Multi-AZ"/>
          <p:cNvSpPr/>
          <p:nvPr/>
        </p:nvSpPr>
        <p:spPr>
          <a:xfrm>
            <a:off x="6163056" y="1463040"/>
            <a:ext cx="265176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11" name="Stat value"/>
          <p:cNvSpPr txBox="1"/>
          <p:nvPr/>
        </p:nvSpPr>
        <p:spPr>
          <a:xfrm>
            <a:off x="6163056" y="1572768"/>
            <a:ext cx="26517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Multi-AZ</a:t>
            </a:r>
            <a:endParaRPr lang="en-US" sz="3200" dirty="0"/>
          </a:p>
        </p:txBody>
      </p:sp>
      <p:sp>
        <p:nvSpPr>
          <p:cNvPr id="12" name="Stat label"/>
          <p:cNvSpPr txBox="1"/>
          <p:nvPr/>
        </p:nvSpPr>
        <p:spPr>
          <a:xfrm>
            <a:off x="6254496" y="2200046"/>
            <a:ext cx="2468880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managed auto-scaling workers</a:t>
            </a:r>
            <a:endParaRPr lang="en-US" sz="1200" dirty="0"/>
          </a:p>
        </p:txBody>
      </p:sp>
      <p:sp>
        <p:nvSpPr>
          <p:cNvPr id="13" name="Stat card HPA"/>
          <p:cNvSpPr/>
          <p:nvPr/>
        </p:nvSpPr>
        <p:spPr>
          <a:xfrm>
            <a:off x="8970264" y="1463040"/>
            <a:ext cx="265176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14" name="Stat value"/>
          <p:cNvSpPr txBox="1"/>
          <p:nvPr/>
        </p:nvSpPr>
        <p:spPr>
          <a:xfrm>
            <a:off x="8970264" y="1572768"/>
            <a:ext cx="26517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HPA</a:t>
            </a:r>
            <a:endParaRPr lang="en-US" sz="3200" dirty="0"/>
          </a:p>
        </p:txBody>
      </p:sp>
      <p:sp>
        <p:nvSpPr>
          <p:cNvPr id="15" name="Stat label"/>
          <p:cNvSpPr txBox="1"/>
          <p:nvPr/>
        </p:nvSpPr>
        <p:spPr>
          <a:xfrm>
            <a:off x="9061704" y="2200046"/>
            <a:ext cx="2468880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horizontal pod autoscaling</a:t>
            </a:r>
            <a:endParaRPr lang="en-US" sz="1200" dirty="0"/>
          </a:p>
        </p:txBody>
      </p:sp>
      <p:sp>
        <p:nvSpPr>
          <p:cNvPr id="16" name="Bullets"/>
          <p:cNvSpPr txBox="1"/>
          <p:nvPr/>
        </p:nvSpPr>
        <p:spPr>
          <a:xfrm>
            <a:off x="548640" y="2971800"/>
            <a:ext cx="5394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Cluster: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AWS EKS v1.30 provisioned via Terraform (opsdesk-eks-prod).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Node group: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Managed auto-scaling workers on AL2023 across multiple availability zones.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Packaging: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Helm v3 chart with ConfigMaps, ClusterIP services, Ingress rules, and HPAs.</a:t>
            </a:r>
            <a:endParaRPr lang="en-US" sz="1500" dirty="0"/>
          </a:p>
        </p:txBody>
      </p:sp>
      <p:sp>
        <p:nvSpPr>
          <p:cNvPr id="17" name="Screenshot slot aws_eks_cluster_active.png"/>
          <p:cNvSpPr/>
          <p:nvPr/>
        </p:nvSpPr>
        <p:spPr>
          <a:xfrm>
            <a:off x="6309360" y="2926080"/>
            <a:ext cx="530352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  <p:txBody>
          <a:bodyPr/>
          <a:p/>
        </p:txBody>
      </p:sp>
      <p:sp>
        <p:nvSpPr>
          <p:cNvPr id="19" name="Caption"/>
          <p:cNvSpPr txBox="1"/>
          <p:nvPr/>
        </p:nvSpPr>
        <p:spPr>
          <a:xfrm>
            <a:off x="6309360" y="60167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AWS Console — opsdesk-eks-prod status: Active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pic>
        <p:nvPicPr>
          <p:cNvPr id="26" name="Picture 25" descr="aws_eks_cluster_ac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926080"/>
            <a:ext cx="530352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OBSERVABILITY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Observability &amp; SRE Telemetry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394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2"/>
                </a:solidFill>
              </a:rPr>
              <a:t>Prometheus telemetry: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Native /metrics endpoint exports HTTP request counters, latency histogram buckets, and CPU/RAM metrics.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2"/>
                </a:solidFill>
              </a:rPr>
              <a:t>Grafana SRE dashboard: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Pre-configured panels track incident resolution rates, P95/P99 latency, and cluster saturation.</a:t>
            </a:r>
            <a:endParaRPr lang="en-US" sz="1600" dirty="0"/>
          </a:p>
        </p:txBody>
      </p:sp>
      <p:sp>
        <p:nvSpPr>
          <p:cNvPr id="5" name="Takeaway panel"/>
          <p:cNvSpPr/>
          <p:nvPr/>
        </p:nvSpPr>
        <p:spPr>
          <a:xfrm>
            <a:off x="548640" y="4160520"/>
            <a:ext cx="5394960" cy="178308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6" name="Takeaway text"/>
          <p:cNvSpPr txBox="1"/>
          <p:nvPr/>
        </p:nvSpPr>
        <p:spPr>
          <a:xfrm>
            <a:off x="777240" y="425196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KEY TAKEAWAYS</a:t>
            </a:r>
            <a:endParaRPr lang="en-US" sz="12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Complete 9-module DevOps capstone delivered on time, documented on GitHub, and verified on live cloud infrastructure.</a:t>
            </a:r>
            <a:endParaRPr lang="en-US" sz="1200" dirty="0"/>
          </a:p>
        </p:txBody>
      </p:sp>
      <p:sp>
        <p:nvSpPr>
          <p:cNvPr id="7" name="Screenshot slot grafana_dashboard.png"/>
          <p:cNvSpPr/>
          <p:nvPr/>
        </p:nvSpPr>
        <p:spPr>
          <a:xfrm>
            <a:off x="6309360" y="1463040"/>
            <a:ext cx="5303520" cy="4480560"/>
          </a:xfrm>
          <a:prstGeom prst="roundRect">
            <a:avLst>
              <a:gd name="adj" fmla="val 2449"/>
            </a:avLst>
          </a:prstGeom>
          <a:solidFill>
            <a:schemeClr val="tx2"/>
          </a:solidFill>
          <a:ln w="19050">
            <a:solidFill>
              <a:schemeClr val="accent2"/>
            </a:solidFill>
            <a:prstDash val="dash"/>
          </a:ln>
        </p:spPr>
        <p:txBody>
          <a:bodyPr/>
          <a:p/>
        </p:txBody>
      </p:sp>
      <p:sp>
        <p:nvSpPr>
          <p:cNvPr id="9" name="Caption"/>
          <p:cNvSpPr txBox="1"/>
          <p:nvPr/>
        </p:nvSpPr>
        <p:spPr>
          <a:xfrm>
            <a:off x="6309360" y="60167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Grafana — OpsDesk SRE dashboard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pic>
        <p:nvPicPr>
          <p:cNvPr id="26" name="Picture 25" descr="grafana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63040"/>
            <a:ext cx="5303520" cy="4480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psDesk SRE">
  <a:themeElements>
    <a:clrScheme name="OpsDesk SRE">
      <a:dk1>
        <a:srgbClr val="0B1B2B"/>
      </a:dk1>
      <a:lt1>
        <a:srgbClr val="FFFFFF"/>
      </a:lt1>
      <a:dk2>
        <a:srgbClr val="163A57"/>
      </a:dk2>
      <a:lt2>
        <a:srgbClr val="EEF3F7"/>
      </a:lt2>
      <a:accent1>
        <a:srgbClr val="00897F"/>
      </a:accent1>
      <a:accent2>
        <a:srgbClr val="F5A524"/>
      </a:accent2>
      <a:accent3>
        <a:srgbClr val="2F80ED"/>
      </a:accent3>
      <a:accent4>
        <a:srgbClr val="5B6B7B"/>
      </a:accent4>
      <a:accent5>
        <a:srgbClr val="22A06B"/>
      </a:accent5>
      <a:accent6>
        <a:srgbClr val="D64545"/>
      </a:accent6>
      <a:hlink>
        <a:srgbClr val="00897F"/>
      </a:hlink>
      <a:folHlink>
        <a:srgbClr val="5B6B7B"/>
      </a:folHlink>
    </a:clrScheme>
    <a:fontScheme name="OpsDesk SR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OpsDesk — DevOps Final Capstone</dc:title>
  <dc:subject>PptxGenJS Presentation</dc:subject>
  <dc:creator>PptxGenJS</dc:creator>
  <cp:lastModifiedBy>PptxGenJS</cp:lastModifiedBy>
  <cp:revision>1</cp:revision>
  <dcterms:created xsi:type="dcterms:W3CDTF">2026-10-16T11:52:17Z</dcterms:created>
  <dcterms:modified xsi:type="dcterms:W3CDTF">2026-10-16T11:52:17Z</dcterms:modified>
</cp:coreProperties>
</file>